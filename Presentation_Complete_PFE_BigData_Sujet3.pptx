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rejet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2D-473A-8112-AC67062456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52D-473A-8112-AC67062456C8}"/>
              </c:ext>
            </c:extLst>
          </c:dPt>
          <c:dPt>
            <c:idx val="2"/>
            <c:invertIfNegative val="0"/>
            <c:bubble3D val="0"/>
            <c:spPr>
              <a:solidFill>
                <a:srgbClr val="D490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2D-473A-8112-AC67062456C8}"/>
              </c:ext>
            </c:extLst>
          </c:dPt>
          <c:dPt>
            <c:idx val="3"/>
            <c:invertIfNegative val="0"/>
            <c:bubble3D val="0"/>
            <c:spPr>
              <a:solidFill>
                <a:srgbClr val="D490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2D-473A-8112-AC67062456C8}"/>
              </c:ext>
            </c:extLst>
          </c:dPt>
          <c:dPt>
            <c:idx val="4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2D-473A-8112-AC67062456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5h</c:v>
                </c:pt>
                <c:pt idx="1">
                  <c:v>6h</c:v>
                </c:pt>
                <c:pt idx="2">
                  <c:v>4h</c:v>
                </c:pt>
                <c:pt idx="3">
                  <c:v>7h</c:v>
                </c:pt>
                <c:pt idx="4">
                  <c:v>16h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23.93</c:v>
                </c:pt>
                <c:pt idx="1">
                  <c:v>19.3</c:v>
                </c:pt>
                <c:pt idx="2">
                  <c:v>17.73</c:v>
                </c:pt>
                <c:pt idx="3">
                  <c:v>14.75</c:v>
                </c:pt>
                <c:pt idx="4">
                  <c:v>12.17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52D-473A-8112-AC67062456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9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2850"/>
          </a:solidFill>
          <a:ln w="12700">
            <a:solidFill>
              <a:srgbClr val="0A28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 Big Data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 3 — Le Gardien de la Donnée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39"/>
            <a:ext cx="8229600" cy="1978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de Validation et Data Cleaning </a:t>
            </a:r>
            <a:r>
              <a:rPr lang="en-US" sz="1900" i="1" dirty="0" err="1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Distribué</a:t>
            </a:r>
            <a:endParaRPr lang="en-US" sz="1900" i="1" dirty="0">
              <a:solidFill>
                <a:srgbClr val="7EC8E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900" i="1" dirty="0">
              <a:solidFill>
                <a:srgbClr val="7EC8E3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900" i="1" dirty="0">
              <a:solidFill>
                <a:srgbClr val="7EC8E3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900" i="1" dirty="0">
              <a:solidFill>
                <a:srgbClr val="7EC8E3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900" i="1" dirty="0">
                <a:solidFill>
                  <a:schemeClr val="bg1"/>
                </a:solidFill>
              </a:rPr>
              <a:t>Mohamed Vall Mohamed Yahya   12130044</a:t>
            </a:r>
          </a:p>
          <a:p>
            <a:pPr marL="0" indent="0">
              <a:buNone/>
            </a:pPr>
            <a:r>
              <a:rPr lang="en-US" sz="1900" i="1" dirty="0" err="1">
                <a:solidFill>
                  <a:schemeClr val="bg1"/>
                </a:solidFill>
              </a:rPr>
              <a:t>AbdelMetty</a:t>
            </a:r>
            <a:r>
              <a:rPr lang="en-US" sz="1900" i="1" dirty="0">
                <a:solidFill>
                  <a:schemeClr val="bg1"/>
                </a:solidFill>
              </a:rPr>
              <a:t> Ahmed </a:t>
            </a:r>
            <a:r>
              <a:rPr lang="en-US" sz="1900" i="1" dirty="0" err="1">
                <a:solidFill>
                  <a:schemeClr val="bg1"/>
                </a:solidFill>
              </a:rPr>
              <a:t>Elkharchy</a:t>
            </a:r>
            <a:r>
              <a:rPr lang="en-US" sz="1900" i="1" dirty="0">
                <a:solidFill>
                  <a:schemeClr val="bg1"/>
                </a:solidFill>
              </a:rPr>
              <a:t>      12530034</a:t>
            </a:r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4187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Yellow Taxi 2023  |  HDFS + Apache Spark 3.1.1  |  Master LIU —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3891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" y="9784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16128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Docker, enjeux mauritaniens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389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48132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166420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4 étapes : dédup → métier → Z-Score → imputation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3891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9659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19842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— Avant nettoyage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216712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 M lignes analysées, anomalies détectées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389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248716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du Nettoyage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" y="267004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330 771 rejets (10,79 %), bilan par étape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3891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9718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29900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d'Impact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" y="317296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quantifiées, biais de sélection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389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" y="34930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SOMELEC / Mauritanie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" y="367588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Transposition au contexte national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43891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39776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" y="399592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" y="417880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la confiance numérique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43891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1832" y="44988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Annexe : Commandes &amp; Jobs Spark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1832" y="4681728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HDFS, spark-submit, code Python, paramètres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technique et enjeux mauritaniens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du Mini-Cluster Docker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01168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3.2.1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Metadata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44752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423160" y="841248"/>
            <a:ext cx="201168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4231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DataNode ×2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1298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Réplication =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44752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0" y="841248"/>
            <a:ext cx="201168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Master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298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3.1.1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7077/8080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444752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720840" y="841248"/>
            <a:ext cx="201168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7208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Worker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298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core / 1 Go 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Partitions=4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 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" y="257860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garantir que les données de </a:t>
            </a: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SOMELEC</a:t>
            </a: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de l'</a:t>
            </a: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ANSADE</a:t>
            </a: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sont fiables avant facturation et publication 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859536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Principe : "Garbage In, Garbage Out"  —  une décision ne vaut que ce que vaut la donnée qui l'alimente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nettoyage en 4 étapes séquentielles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Nettoyage Distribué — 4 Étapes Séquentielles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20240" cy="2514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Déduplication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dropDuplicates()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doublon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084832"/>
            <a:ext cx="2286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23160" y="841248"/>
            <a:ext cx="1920240" cy="2514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23160" y="886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8288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filtres logiques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176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186 735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084832"/>
            <a:ext cx="2286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1920240" cy="2514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0" y="886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18288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|Z| &gt; 3 → rejet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176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144 036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084832"/>
            <a:ext cx="2286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720840" y="841248"/>
            <a:ext cx="1920240" cy="25146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720840" y="88696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72084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18288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Médiane sur nulls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176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71 743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859536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Z-Score :   Z = |x − µ| / σ   →   Rejet si Z &gt; 3,0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9136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(élimine les valeurs à plus de 3 écarts-types de la moyenne — seuil standard statistique)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Profilage — État AVANT Nettoyage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3 066 766 lignes analysées en une seule passe Spark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Critiques Détectées dans le Dataset Brut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69164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-900 $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fare_amount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 négatifs impossibles → erreurs de remboursement ou saisie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4114800" cy="169164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258 928 mi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trip_distance MAX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657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tours de la Terre en taxi — capteur GPS défectueux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14800" cy="1691640"/>
          </a:xfrm>
          <a:prstGeom prst="rect">
            <a:avLst/>
          </a:prstGeom>
          <a:solidFill>
            <a:srgbClr val="FFF3CD"/>
          </a:solidFill>
          <a:ln w="254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73168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9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σ = 249,58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3168" y="1444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trip_distance Écart-type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65× supérieur à la moyenne (3,85) → distribution corrompue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114800" cy="1691640"/>
          </a:xfrm>
          <a:prstGeom prst="rect">
            <a:avLst/>
          </a:prstGeom>
          <a:solidFill>
            <a:srgbClr val="FFF3CD"/>
          </a:solidFill>
          <a:ln w="254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73168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9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71 743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73168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passenger_count =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3657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2,34 % des trajets sans passager — batch mal transmis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du Nettoyage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330 771 lignes rejetées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Rejets par Étape du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20240" cy="1170432"/>
          </a:xfrm>
          <a:prstGeom prst="rect">
            <a:avLst/>
          </a:prstGeom>
          <a:solidFill>
            <a:srgbClr val="EBF4FA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3 066 766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initiales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841248"/>
            <a:ext cx="1920240" cy="1170432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8869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186 735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3172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 métier (6,09%)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841248"/>
            <a:ext cx="1920240" cy="1170432"/>
          </a:xfrm>
          <a:prstGeom prst="rect">
            <a:avLst/>
          </a:prstGeom>
          <a:solidFill>
            <a:srgbClr val="FFF3CD"/>
          </a:solidFill>
          <a:ln w="254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0" y="8869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9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144 036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8912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Rejets Z-Score (4,70%)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841248"/>
            <a:ext cx="1920240" cy="1170432"/>
          </a:xfrm>
          <a:prstGeom prst="rect">
            <a:avLst/>
          </a:prstGeom>
          <a:solidFill>
            <a:srgbClr val="F0FFF0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46520" y="8869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2 735 995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15361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propre final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8595360" cy="2331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Étape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Lignes rejetées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Taux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Cause principale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Doublons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Données NYC TLC propres à la source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Règles métier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186 735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6.089%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Tarifs négatifs, distances impossibles, vitesse &gt; 150 km/h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Z-Score |Z|&gt;3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144 036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4.697%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Outliers statistiques auto-détectés sur 3 colonnes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TOTAL REJETÉ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330 771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10.786%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</a:rPr>
                        <a:t>Taux réaliste pour un dataset de production réel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d'Impact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 de l'erreur statistique avant / après nettoyage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Statistique Avant / Après Nettoyage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429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Métrique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AVANT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APRÈS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Erreur 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9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fare_amount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Moyenne (µ)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18.37 $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15.57 $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15.22%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fare_amount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Écart-type (σ)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17.81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10.45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41.30%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trip_distance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Moyenne (µ)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3.85 miles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2.64 miles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31.49%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trip_distance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Écart-type (σ)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249.58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98.94%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total_amount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Moyenne (µ)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27.02 $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23.69 $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12.31%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total_amount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Écart-type (σ)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22.16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13.57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38.76%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365760" y="44165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nettoyage, fare_amount est surestimé de 15,22%  →  toute décision financière est systématiquement biaisée de 15%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de Sélection — Qui sont les données rejetées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VendorID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41148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VendorID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Conservation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(Creative Mobile)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85.47%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⚠ Biais capteur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(VeriFone)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90.60%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✓ Normal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tranche horaire (top 5 rejets)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43000"/>
          <a:ext cx="4114800" cy="1874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Taux rejet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Alerte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5h du matin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23.93%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🔴 Critique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6h du matin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19.30%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🔴 Élevé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4h du matin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900A"/>
                          </a:solidFill>
                        </a:rPr>
                        <a:t>17.73%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Élevé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7h du matin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900A"/>
                          </a:solidFill>
                        </a:rPr>
                        <a:t>14.75%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Modéré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12.17%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Normal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274320" y="2423160"/>
          <a:ext cx="4114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274320" y="3127248"/>
            <a:ext cx="859536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5"/>
          <p:cNvSpPr/>
          <p:nvPr/>
        </p:nvSpPr>
        <p:spPr>
          <a:xfrm>
            <a:off x="365760" y="3172968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nocturnes 2× plus corrompues que la moyenne  |  35 lignes avec dates incohérentes détectées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au Contexte Mauritanien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SOMELEC — SNDE — ANSADE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Transposition aux Enjeux Mauritaniens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34440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2344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15214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SOMELEC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85953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 la Facturation Électrique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 NYC : fare_amount = -900 $  →  Compteur affichant -500 kWh → avoir non justifié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: 15,22 % de surfacturation si données non nettoyées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8595360" cy="1234440"/>
          </a:xfrm>
          <a:prstGeom prst="rect">
            <a:avLst/>
          </a:prstGeom>
          <a:solidFill>
            <a:srgbClr val="E8F8F5"/>
          </a:solidFill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123444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52374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23113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des Réseaux d'Eau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560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 NYC : trip_distance = 258 928 miles  →  Débit 1 000× supérieur à la normale → fuite non détectée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9260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: Économies d'eau impossibles sans détection automatique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47872"/>
            <a:ext cx="8595360" cy="1234440"/>
          </a:xfrm>
          <a:prstGeom prst="rect">
            <a:avLst/>
          </a:prstGeom>
          <a:solidFill>
            <a:srgbClr val="EBF4FA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123444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389534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60273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Intégrité des Statistiques Nationales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9319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 NYC : 35 lignes avec dates incohérentes  →  Erreurs d'horodatage faussent les tendances économiques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4297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: Décisions politiques basées sur des indicateurs biaisés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la confiance numérique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Ce que ce Projet Démontre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170432"/>
          </a:xfrm>
          <a:prstGeom prst="rect">
            <a:avLst/>
          </a:prstGeom>
          <a:solidFill>
            <a:srgbClr val="FF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179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rejet global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822960"/>
            <a:ext cx="1920240" cy="1170432"/>
          </a:xfrm>
          <a:prstGeom prst="rect">
            <a:avLst/>
          </a:prstGeom>
          <a:solidFill>
            <a:srgbClr val="FFF3CD"/>
          </a:solidFill>
          <a:ln w="254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9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31720" y="15179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 évitée sur µ(fare)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822960"/>
            <a:ext cx="1920240" cy="1170432"/>
          </a:xfrm>
          <a:prstGeom prst="rect">
            <a:avLst/>
          </a:prstGeom>
          <a:solidFill>
            <a:srgbClr val="E8F8F5"/>
          </a:solidFill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0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389120" y="15179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 σ (distance)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822960"/>
            <a:ext cx="1920240" cy="1170432"/>
          </a:xfrm>
          <a:prstGeom prst="rect">
            <a:avLst/>
          </a:prstGeom>
          <a:solidFill>
            <a:srgbClr val="F0FFF0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46520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89.21%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46520" y="15179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propres conservées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2212848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2585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millions de lignes traitées en mode distribué sur un mini-cluster mono-worker Docker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347472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743200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27889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reproductible sur n'importe quel dataset : SOMELEC, SNDE, ANSADE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73552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27355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319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de capteur identifié (VendorID 1 : -5 pts) et biais horaire documenté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803904"/>
            <a:ext cx="347472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3803904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38496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automatique : aucune connaissance métier requise pour détecter les outliers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EBF4FA"/>
          </a:solidFill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 bon Data Engineer ne traite pas la donnée — il en garantit la véracité."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Annexe — Commandes &amp; Jobs Spark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HDFS, spark-submit, code Python, paramètres clés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A.1  Setup HDFS — Upload du Dataset (PowerShell)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Git Bash sur Windows résolu via MSYS_NO_PATHCONV=1 (bloque la conversion des chemins Linux).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175564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Étape 1 : Copier le .parquet dans le container namenode (PowerShell, pas Git Bash)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"C:\Users\ahmed\hadoop-cluster\data\yellow_tripdata_2023-01.parquet" namenode:/tmp/taxi.parquet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Étape 2 : Créer le répertoire HDFS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namenode hdfs dfs -mkdir -p /data/taxi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Étape 3 : Uploader de /tmp vers HDFS (réplication = 2 DataNodes)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namenode hdfs dfs -put -f /tmp/taxi.parquet /data/taxi/yellow_tripdata_2023-01.parquet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Étape 4 : Vérification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namenode hdfs dfs -ls -h /data/taxi/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-rw-r--r--   2 root supergroup   45.5 M   /data/taxi/yellow_tripdata_2023-01.parquet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44368"/>
          <a:ext cx="8595360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Valeur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dfs_replication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Données répliquées sur datanode1 et datanode2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dfs_permissions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Simplifie les droits en environnement étudiant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MSYS_NO_PATHCONV=1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activé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Bloque conversion chemins Linux par Git Bash Windows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A.2  Job 1 — Profilage  (01_profiling.py)  |  Durée : ~55 sec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 spark-submit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4069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spark-master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/spark/bin/spark-submit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--master spark://spark-master:7077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--executor-memory 1g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/tmp/projet_cleaning/01_profiling.py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clé — une seule passe Spark 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89611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09160" y="1152144"/>
            <a:ext cx="4069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métriques en UNE seule 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agg_exprs=[F.mean(col(c)),F.stddev(col(c)),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F.min(col(c)),F.max(col(c)),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F.count(when(col(c).isNull(),1))]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 = df.agg(*agg_exprs).collect()[0]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84832"/>
          <a:ext cx="8595360" cy="249631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Valeur obtenue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Anomalie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Lignes totales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3 066 766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fare_amount MIN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-900.00 $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⚠ Tarif négatif impossible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trip_distance MAX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258 928 miles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⚠ 10 tours de la Terre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trip_distance σ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249.58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⚠ 65× supérieur à la moyenne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passenger_count nulls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71 743 (2.34%)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900A"/>
                          </a:solidFill>
                        </a:rPr>
                        <a:t>⚠ Batch mal transmis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Doublons détectés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✓ Source propre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A.3  Job 2 — Nettoyage Distribué  (02_cleaning.py)  |  Durée : ~6 min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 (Étape B)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15727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406908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Tarif minimum NYC = 2.50$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df=df.filter((col('fare_amount')&gt;=2.5)&amp;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(col('fare_amount')&lt;=1000))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Distance réaliste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df=df.filter((col('trip_distance')&gt;0)&amp;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(col('trip_distance')&lt;200))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Vitesse taxi &lt;= 150 km/h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df=df.filter(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(col('trip_distance')*1.60934/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col('duree_heures'))&lt;=150)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186 735 rejets (6.089%)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17720" y="7772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(Étape C) — seuil |Z| &gt; 3 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15727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09160" y="1152144"/>
            <a:ext cx="406908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µ et σ calculés UNE SEULE FOIS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stats=df.select(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F.mean('fare_amount').alias('mu'),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F.stddev('fare_amount').alias('sig')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).collect()[0]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Colonnes Z-Score + filtrage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df_z=df.withColumn('z_fare',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abs((col('fare_amount')-mu)/sig))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df_clean=df_z.filter(col('z_fare')&lt;=3)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144 036 rejets (4.697%)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 en Parquet sur HDFS 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45720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136392"/>
            <a:ext cx="4389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df_clean.write.mode('overwrite')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.parquet('hdfs://namenode:9000/data/taxi/yellow_taxi_clean')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2 735 995 lignes  |  42.35 sec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3063240"/>
          <a:ext cx="3886200" cy="153619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Étape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Rejets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Taux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Règles métier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186 735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6.089%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Z-Score |Z|&gt;3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144 036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4.697%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330 771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10.786%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A.4  Job 3 — Analyse d'Impact  |  A.5  Paramètres Spark Clés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VendorID 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dist_raw=df_raw.groupBy('VendorID').count()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dist_join=dist_raw.join(dist_clean,'VendorID')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.withColumn('taux',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col('nb_propre')/col('nb_brut')*100)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VendorID 1 : 85.47%  ⚠ biais capteur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VendorID 2 : 90.60%  ✓ normal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17720" y="7772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horaire 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78992"/>
            <a:ext cx="425196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09160" y="1152144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df_raw.withColumn('h',hour('tpep_pickup_datetime'))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.groupBy('h').count()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.join(df_clean_h,'h')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.withColumn('pct_rejet',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col('rejets')/col('nb_brut')*100)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.orderBy(col('pct_rejet').desc())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Spark et HDFS clés :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61488"/>
          <a:ext cx="8595360" cy="2560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Valeur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Justification (vs défaut)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--executor-memory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Contrainte cluster Docker (vs 512m défaut)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spark.sql.shuffle.partitions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Évite 200 tâches pour 1 worker (défaut = 200)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--total-executor-cores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 seul core disponible sur le spark-worker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write.mode('overwrite')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Permet la réexécution sans erreur 'already exists'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approxQuantile(..., 0.01)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1% d'erreur max sur les quartiles — précision suffisante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HDFS dfs_replication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Données dupliquées sur datanode1 + datanode2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A2850"/>
          </a:solidFill>
          <a:ln w="12700">
            <a:solidFill>
              <a:srgbClr val="0A28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 Big Data 2026  —  Sujet 3 : Le Gardien de la Donnée  |  Master LIU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Yellow Taxi 2023  |  HDFS + Apache Spark 3.1.1  |  3 066 766 lignes traitées  |  330 771 rejets (10,79%)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2032</Words>
  <Application>Microsoft Office PowerPoint</Application>
  <PresentationFormat>Affichage à l'écran (16:9)</PresentationFormat>
  <Paragraphs>402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Big Data — Sujet 3 : Data Cleaning</dc:title>
  <dc:subject>PptxGenJS Presentation</dc:subject>
  <dc:creator>Master LIU</dc:creator>
  <cp:lastModifiedBy>med vall Yahya</cp:lastModifiedBy>
  <cp:revision>2</cp:revision>
  <dcterms:created xsi:type="dcterms:W3CDTF">2026-05-21T17:50:48Z</dcterms:created>
  <dcterms:modified xsi:type="dcterms:W3CDTF">2026-05-21T18:05:37Z</dcterms:modified>
</cp:coreProperties>
</file>